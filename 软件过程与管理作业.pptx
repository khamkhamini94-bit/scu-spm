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70"/>
  </p:normalViewPr>
  <p:slideViewPr>
    <p:cSldViewPr snapToGrid="0">
      <p:cViewPr varScale="1">
        <p:scale>
          <a:sx n="109" d="100"/>
          <a:sy n="109" d="100"/>
        </p:scale>
        <p:origin x="70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83DFAAA-A2C7-0CB6-AED8-51BFFA7AC1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D9ADD17-B6A3-5FC0-2B50-28E3228D88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A3DC33B-C0CB-38E5-9621-4C020DB47F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BA2D96-CDC2-2140-BC64-7C17DCC07D6A}" type="datetimeFigureOut">
              <a:rPr kumimoji="1" lang="zh-CN" altLang="en-US" smtClean="0"/>
              <a:t>2026/5/21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3295F12-DF11-7F1F-67FE-8ADD957B7C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CCE9CB8-039F-D028-0A4C-0EDB2F1EED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25E419-E4FA-7C41-AF26-01BE3699790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612321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BFFFC6C-BC4E-E4E5-65A0-AC2B2911E1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E5E6076-652D-A3E6-B756-337DF46683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01944F1-F56B-5F0A-4C40-DB6D98DB14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BA2D96-CDC2-2140-BC64-7C17DCC07D6A}" type="datetimeFigureOut">
              <a:rPr kumimoji="1" lang="zh-CN" altLang="en-US" smtClean="0"/>
              <a:t>2026/5/21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446660A-9BD8-2F5B-4D6F-FA1CC2CC33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0077E1F-FBD4-522F-E446-DD9C5EFCA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25E419-E4FA-7C41-AF26-01BE3699790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159635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45FF5C4-0A12-9E77-0E11-C7613DD026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72CEC7A-71C7-DBC3-76A9-4DA3BB1EEA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D46A947-FB5E-D1BB-9706-F113CE9BED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BA2D96-CDC2-2140-BC64-7C17DCC07D6A}" type="datetimeFigureOut">
              <a:rPr kumimoji="1" lang="zh-CN" altLang="en-US" smtClean="0"/>
              <a:t>2026/5/21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CCFFA00-4136-A4E0-E68E-FBA4A1483D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4EC52F4-C720-D20D-2D79-B2D9313935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25E419-E4FA-7C41-AF26-01BE3699790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576573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369E91A-D718-237B-5BAA-3073DDFA58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C44F51F-46A6-B306-2A10-C921E8FC2D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F462270-D4AC-8421-7C2F-6F87FED4D6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040048A-3CEA-AF29-7849-3335685122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BA2D96-CDC2-2140-BC64-7C17DCC07D6A}" type="datetimeFigureOut">
              <a:rPr kumimoji="1" lang="zh-CN" altLang="en-US" smtClean="0"/>
              <a:t>2026/5/21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8EC0D90-8584-B3A9-CBA8-A8DC878748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5509AD9-4BB5-12C3-36E6-AE4B64CA0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25E419-E4FA-7C41-AF26-01BE3699790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677344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370727C-66C4-8DC4-EC93-46389BA9C3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3ECE9FF-D7D7-6454-240C-29FB55A411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4FC10FB-01F4-4E7A-ACC8-59DF45F32C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0CA179E4-BB19-670E-63A3-BE070FF7FA3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CAA69D4D-BEDB-BD67-32F5-EC371FF72E9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7355F5C-7A9B-A80B-56DC-141D990F05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BA2D96-CDC2-2140-BC64-7C17DCC07D6A}" type="datetimeFigureOut">
              <a:rPr kumimoji="1" lang="zh-CN" altLang="en-US" smtClean="0"/>
              <a:t>2026/5/21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12A184A-9777-B40C-6C8D-04C3D362AC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571572BF-FA9A-82B6-4088-9DB14BCE0F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25E419-E4FA-7C41-AF26-01BE3699790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684906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2BC4249-09EB-CBA7-591A-9C6BB4E2AD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2084C29-944E-03C3-D495-824A68E991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BA2D96-CDC2-2140-BC64-7C17DCC07D6A}" type="datetimeFigureOut">
              <a:rPr kumimoji="1" lang="zh-CN" altLang="en-US" smtClean="0"/>
              <a:t>2026/5/21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6D01923-9A4A-97D5-FBD8-777676BAE5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703F9DA-F1EE-AFE0-A5CD-F934740B40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25E419-E4FA-7C41-AF26-01BE3699790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4862812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FC45471-FAA6-4D42-164E-A5BA27CDEC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BA2D96-CDC2-2140-BC64-7C17DCC07D6A}" type="datetimeFigureOut">
              <a:rPr kumimoji="1" lang="zh-CN" altLang="en-US" smtClean="0"/>
              <a:t>2026/5/21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69160B4-E772-7EF1-D226-28EBCC18C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72F153F-43CF-6C38-3BE6-73A0726EE4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25E419-E4FA-7C41-AF26-01BE3699790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453834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BA8D58A-8E42-073E-EA6B-0B91FE68A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3ED3194-B622-F785-E02A-7B93A40E54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6E0BDEF-6D93-C3B5-72DE-FC40243556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E8260E0-4458-4280-5168-3D0D29ADDB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BA2D96-CDC2-2140-BC64-7C17DCC07D6A}" type="datetimeFigureOut">
              <a:rPr kumimoji="1" lang="zh-CN" altLang="en-US" smtClean="0"/>
              <a:t>2026/5/21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CF0302D-761C-116A-8567-FAC8C8DED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50A9DEF-1356-56A3-9A53-05A17C614A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25E419-E4FA-7C41-AF26-01BE3699790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140817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1E5F59-2805-8A30-28C7-25A32E4059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DC00C2D7-31B6-189A-8D32-EED0079F7DF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FEE6D88-8DA3-F9D6-6BC0-8BDC725AE0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8229162-0CFF-D704-ABEC-4361418912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BA2D96-CDC2-2140-BC64-7C17DCC07D6A}" type="datetimeFigureOut">
              <a:rPr kumimoji="1" lang="zh-CN" altLang="en-US" smtClean="0"/>
              <a:t>2026/5/21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B59AA5E-1668-CA20-129B-DFC567F4BF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C9182F1-33FF-796A-4A74-5870768D26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25E419-E4FA-7C41-AF26-01BE3699790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47583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4909128-6241-6FE9-286B-C1B01EE6ED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41373F0-EE7C-01AB-830C-AB8AF802C7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3D3F41F-DAE4-4C48-F587-0E2E44EE4C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BA2D96-CDC2-2140-BC64-7C17DCC07D6A}" type="datetimeFigureOut">
              <a:rPr kumimoji="1" lang="zh-CN" altLang="en-US" smtClean="0"/>
              <a:t>2026/5/21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DA1D31C-B0CB-0EAB-88FC-7F6AB66A2B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C95BBF7-86C6-1236-1AA4-AF89F5488F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25E419-E4FA-7C41-AF26-01BE3699790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371571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9694715C-5452-9C37-10F7-98705E62C16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D91B451-C2B2-79EE-6944-2CA87C491D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8212D15-6D7C-4A74-AC01-315DA266E9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BA2D96-CDC2-2140-BC64-7C17DCC07D6A}" type="datetimeFigureOut">
              <a:rPr kumimoji="1" lang="zh-CN" altLang="en-US" smtClean="0"/>
              <a:t>2026/5/21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1C6A81D-1F07-E8A5-BEE2-D965A90FA2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C03B679-1801-7E7B-CF85-C646C9AD2A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25E419-E4FA-7C41-AF26-01BE3699790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510007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35553AF-6092-01CD-99E4-0FF1AB800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0229E8A-D73D-79A5-B611-114E22C6BC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9A93F72-838D-7EB4-C8D3-FA1C06B8FD2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EBA2D96-CDC2-2140-BC64-7C17DCC07D6A}" type="datetimeFigureOut">
              <a:rPr kumimoji="1" lang="zh-CN" altLang="en-US" smtClean="0"/>
              <a:t>2026/5/21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3FB74BF-BE3D-C9D4-DBA8-18F86632A0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E082FCC-EECF-F2C5-F108-FCE56C57C6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F25E419-E4FA-7C41-AF26-01BE3699790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123158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B871B7B-3E0A-3204-43C9-AA179CFD42D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zh-CN" altLang="en-US" dirty="0"/>
              <a:t>软件过程与管理作业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AB6D4B3-E644-0685-8DDA-EEF0DC14B77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zh-CN" altLang="en-US" dirty="0"/>
              <a:t>四川大学软件学院</a:t>
            </a:r>
            <a:endParaRPr kumimoji="1" lang="en-US" altLang="zh-CN" dirty="0"/>
          </a:p>
          <a:p>
            <a:r>
              <a:rPr kumimoji="1" lang="en-US" altLang="zh-CN" dirty="0"/>
              <a:t>2026</a:t>
            </a:r>
            <a:r>
              <a:rPr kumimoji="1" lang="zh-CN" altLang="en-US" dirty="0"/>
              <a:t>年 春</a:t>
            </a:r>
          </a:p>
        </p:txBody>
      </p:sp>
    </p:spTree>
    <p:extLst>
      <p:ext uri="{BB962C8B-B14F-4D97-AF65-F5344CB8AC3E}">
        <p14:creationId xmlns:p14="http://schemas.microsoft.com/office/powerpoint/2010/main" val="27940314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FAF3D9F-E288-DDC4-FE28-6017D2D3C0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b="1" dirty="0"/>
              <a:t>一、作业背景与目标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44D3935-DFA6-DA45-E785-CEE627C724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933944"/>
          </a:xfrm>
        </p:spPr>
        <p:txBody>
          <a:bodyPr/>
          <a:lstStyle/>
          <a:p>
            <a:r>
              <a:rPr lang="zh-CN" altLang="zh-CN" dirty="0"/>
              <a:t>随着生成式AI、智能体等技术的爆发式发展，软件工程正从传统的流程驱动模式向人机协同的智能范式转型。本作业要求同学们结合前期完成的软件过程定义成果，针对需求分析、系统设计、编码实现、测试验证、运维监控全生命周期环节，引入AI技术进行过程优化与重构，最终形成一套适配智能化开发趋势的新型软件过程体系。</a:t>
            </a:r>
          </a:p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153679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C4D8D61-02EB-D111-7E0F-B7061C5D4D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b="1" dirty="0"/>
              <a:t>一、作业背景与目标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6C6ABDC-E8A2-6B87-3F66-A2C29B8084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664313"/>
          </a:xfrm>
        </p:spPr>
        <p:txBody>
          <a:bodyPr/>
          <a:lstStyle/>
          <a:p>
            <a:r>
              <a:rPr lang="zh-CN" altLang="zh-CN" dirty="0"/>
              <a:t>深入理解AI技术在软件工程各阶段的应用场景与价值</a:t>
            </a:r>
          </a:p>
          <a:p>
            <a:r>
              <a:rPr lang="zh-CN" altLang="zh-CN" dirty="0"/>
              <a:t>掌握传统软件过程与AI技术融合的方法与实践路径</a:t>
            </a:r>
          </a:p>
          <a:p>
            <a:r>
              <a:rPr lang="zh-CN" altLang="zh-CN" dirty="0"/>
              <a:t>培养基于技术演进的过程创新与问题解决能力</a:t>
            </a:r>
          </a:p>
          <a:p>
            <a:r>
              <a:rPr lang="zh-CN" altLang="zh-CN" dirty="0"/>
              <a:t>提升团队协作与文档化交付的专业素养</a:t>
            </a:r>
          </a:p>
          <a:p>
            <a:pPr marL="0" indent="0">
              <a:buNone/>
            </a:pP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77062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4B8B335-39E3-6AAA-997F-321C647070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b="1" dirty="0"/>
              <a:t>二、作业前置条件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88FE544-DEF5-D740-CDF2-365B3514B9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910498"/>
          </a:xfrm>
        </p:spPr>
        <p:txBody>
          <a:bodyPr/>
          <a:lstStyle/>
          <a:p>
            <a:r>
              <a:rPr lang="zh-CN" altLang="zh-CN" dirty="0"/>
              <a:t>已完成《软件过程剪裁与定义》作业，形成包含软件生命周期各阶段活动、角色、交付物的完整过程文档</a:t>
            </a:r>
          </a:p>
          <a:p>
            <a:r>
              <a:rPr lang="zh-CN" altLang="zh-CN" dirty="0"/>
              <a:t>具备软件工程基础理论知识，熟悉软件开发生命周期（SDLC）核心流程</a:t>
            </a:r>
          </a:p>
          <a:p>
            <a:r>
              <a:rPr lang="zh-CN" altLang="zh-CN" dirty="0"/>
              <a:t>了解AI技术基本概念，包括生成式AI、机器学习、智能体等核心技术范畴</a:t>
            </a:r>
          </a:p>
          <a:p>
            <a:pPr marL="0" indent="0">
              <a:buNone/>
            </a:pP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607073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71CF838-2973-C9FC-9B12-D31BEB6C57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zh-CN" b="1" dirty="0"/>
              <a:t>三、作业核心任务</a:t>
            </a:r>
            <a:br>
              <a:rPr lang="zh-CN" altLang="zh-CN" b="1" dirty="0"/>
            </a:br>
            <a:r>
              <a:rPr lang="zh-CN" altLang="zh-CN" b="1" dirty="0"/>
              <a:t>（一）AI技术应用场景调研与分析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4AF7182-EDED-AE9B-9D14-677AD8784D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086344"/>
          </a:xfrm>
        </p:spPr>
        <p:txBody>
          <a:bodyPr>
            <a:normAutofit/>
          </a:bodyPr>
          <a:lstStyle/>
          <a:p>
            <a:r>
              <a:rPr lang="zh-CN" altLang="zh-CN" b="1" dirty="0">
                <a:effectLst/>
              </a:rPr>
              <a:t>技术趋势研究</a:t>
            </a:r>
            <a:r>
              <a:rPr lang="zh-CN" altLang="zh-CN" dirty="0">
                <a:effectLst/>
              </a:rPr>
              <a:t>：调研2024-2026年AI在软件工程领域的最新应用成果，重点关注：</a:t>
            </a:r>
          </a:p>
          <a:p>
            <a:pPr lvl="1"/>
            <a:r>
              <a:rPr lang="zh-CN" altLang="zh-CN" dirty="0">
                <a:effectLst/>
              </a:rPr>
              <a:t>需求分析阶段：AI辅助需求捕获、需求文档自动生成、需求一致性验证</a:t>
            </a:r>
          </a:p>
          <a:p>
            <a:pPr lvl="1"/>
            <a:r>
              <a:rPr lang="zh-CN" altLang="zh-CN" dirty="0">
                <a:effectLst/>
              </a:rPr>
              <a:t>系统设计阶段：AI驱动的架构设计、自动生成UML模型、设计模式推荐</a:t>
            </a:r>
          </a:p>
          <a:p>
            <a:pPr lvl="1"/>
            <a:r>
              <a:rPr lang="zh-CN" altLang="zh-CN" dirty="0">
                <a:effectLst/>
              </a:rPr>
              <a:t>编码实现阶段：AI代码生成、智能代码审查、自动补全与重构</a:t>
            </a:r>
          </a:p>
          <a:p>
            <a:pPr lvl="1"/>
            <a:r>
              <a:rPr lang="zh-CN" altLang="zh-CN" dirty="0">
                <a:effectLst/>
              </a:rPr>
              <a:t>测试验证阶段：AI生成测试用例、智能自愈测试脚本、预测性缺陷检测</a:t>
            </a:r>
          </a:p>
          <a:p>
            <a:pPr lvl="1"/>
            <a:r>
              <a:rPr lang="zh-CN" altLang="zh-CN" dirty="0">
                <a:effectLst/>
              </a:rPr>
              <a:t>运维监控阶段：AI异常检测、根因自动分析、智能扩容与优化</a:t>
            </a:r>
          </a:p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98697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F68A73D-FE52-B78B-5DE3-D27C9609BF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b="1" dirty="0"/>
              <a:t>三、作业核心任务</a:t>
            </a:r>
            <a:br>
              <a:rPr lang="zh-CN" altLang="zh-CN" b="1" dirty="0"/>
            </a:br>
            <a:r>
              <a:rPr lang="zh-CN" altLang="zh-CN" b="1" dirty="0"/>
              <a:t>（一）AI技术应用场景调研与分析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C9102F0-D65B-A6B1-DA38-4D22781ED7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b="1" dirty="0"/>
              <a:t>场景匹配分析</a:t>
            </a:r>
            <a:r>
              <a:rPr lang="zh-CN" altLang="zh-CN" dirty="0"/>
              <a:t>：结合自身定义的软件过程，识别3-5个AI技术可显著提升效率的关键环节，形成《AI技术应用场景匹配报告》</a:t>
            </a:r>
          </a:p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530132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0D28AED-02F0-783D-29EF-F866DD5A23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zh-CN" b="1" dirty="0"/>
              <a:t>三、作业核心任务</a:t>
            </a:r>
            <a:br>
              <a:rPr lang="zh-CN" altLang="zh-CN" b="1" dirty="0"/>
            </a:br>
            <a:r>
              <a:rPr lang="zh-CN" altLang="zh-CN" b="1" dirty="0"/>
              <a:t>（二）软件过程改进方案设计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6E8C0E3-4490-5C18-55EE-FA42682E72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b="1" dirty="0">
                <a:effectLst/>
              </a:rPr>
              <a:t>过程重构</a:t>
            </a:r>
            <a:r>
              <a:rPr lang="zh-CN" altLang="zh-CN" dirty="0">
                <a:effectLst/>
              </a:rPr>
              <a:t>：针对识别的关键环节，设计AI技术与传统过程的融合方案，包括：</a:t>
            </a:r>
          </a:p>
          <a:p>
            <a:pPr lvl="1"/>
            <a:r>
              <a:rPr lang="zh-CN" altLang="zh-CN" dirty="0">
                <a:effectLst/>
              </a:rPr>
              <a:t>新增AI相关角色（如AI训练师、AI测试分析师）</a:t>
            </a:r>
          </a:p>
          <a:p>
            <a:pPr lvl="1"/>
            <a:r>
              <a:rPr lang="zh-CN" altLang="zh-CN" dirty="0">
                <a:effectLst/>
              </a:rPr>
              <a:t>调整原有活动流程，融入AI工具执行节点</a:t>
            </a:r>
          </a:p>
          <a:p>
            <a:pPr lvl="1"/>
            <a:r>
              <a:rPr lang="zh-CN" altLang="zh-CN" dirty="0">
                <a:effectLst/>
              </a:rPr>
              <a:t>定义AI输出物的质量标准与验证机制</a:t>
            </a:r>
          </a:p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576364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0FDC5D-056C-8EDC-0803-3FCFF68D67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7728F7-772A-FDCB-EBFC-A5A4E085D3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zh-CN" b="1" dirty="0"/>
              <a:t>三、作业核心任务</a:t>
            </a:r>
            <a:br>
              <a:rPr lang="zh-CN" altLang="zh-CN" b="1" dirty="0"/>
            </a:br>
            <a:r>
              <a:rPr lang="zh-CN" altLang="zh-CN" b="1" dirty="0"/>
              <a:t>（二）软件过程改进方案设计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0B93733-8844-C724-FDEA-5C28C5C566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b="1" dirty="0">
                <a:effectLst/>
              </a:rPr>
              <a:t>工具链选型</a:t>
            </a:r>
            <a:r>
              <a:rPr lang="zh-CN" altLang="zh-CN" dirty="0">
                <a:effectLst/>
              </a:rPr>
              <a:t>：为每个改进环节推荐合适的AI工具或技术框架，需包含：</a:t>
            </a:r>
          </a:p>
          <a:p>
            <a:pPr lvl="1"/>
            <a:r>
              <a:rPr lang="zh-CN" altLang="zh-CN" dirty="0">
                <a:effectLst/>
              </a:rPr>
              <a:t>工具名称与核心功能</a:t>
            </a:r>
          </a:p>
          <a:p>
            <a:pPr lvl="1"/>
            <a:r>
              <a:rPr lang="zh-CN" altLang="zh-CN" dirty="0">
                <a:effectLst/>
              </a:rPr>
              <a:t>与现有过程的集成方式</a:t>
            </a:r>
          </a:p>
          <a:p>
            <a:pPr lvl="1"/>
            <a:r>
              <a:rPr lang="zh-CN" altLang="zh-CN" dirty="0">
                <a:effectLst/>
              </a:rPr>
              <a:t>预期效率提升指标</a:t>
            </a:r>
          </a:p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731366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6AACCC-7A1F-A571-221E-FB313AA6C0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71A75C1-71E4-F8BA-6936-67F4B6B2B3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zh-CN" b="1" dirty="0"/>
              <a:t>三、作业核心任务</a:t>
            </a:r>
            <a:br>
              <a:rPr lang="zh-CN" altLang="zh-CN" b="1" dirty="0"/>
            </a:br>
            <a:r>
              <a:rPr lang="zh-CN" altLang="zh-CN" b="1" dirty="0"/>
              <a:t>（二）软件过程改进方案设计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73B127D-6097-E4B8-7812-50E803148F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b="1" dirty="0"/>
              <a:t>风险评估</a:t>
            </a:r>
            <a:r>
              <a:rPr lang="zh-CN" altLang="zh-CN" dirty="0"/>
              <a:t>：分析AI技术引入可能带来的风险（如数据安全、模型偏见、技术依赖），并制定相应的应对策略</a:t>
            </a:r>
          </a:p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545010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60F63B-6550-7439-02D5-327379965C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F7DE5C7-174B-9DED-F2ED-6845941DAF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zh-CN" b="1" dirty="0"/>
              <a:t>三、作业核心任务</a:t>
            </a:r>
            <a:br>
              <a:rPr lang="zh-CN" altLang="zh-CN" b="1" dirty="0"/>
            </a:br>
            <a:r>
              <a:rPr lang="zh-CN" altLang="zh-CN" b="1" dirty="0"/>
              <a:t>（三）改进方案原型验证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320F642-EFC1-E823-9824-4242593BBC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b="1" dirty="0">
                <a:effectLst/>
              </a:rPr>
              <a:t>最小可行验证</a:t>
            </a:r>
            <a:r>
              <a:rPr lang="zh-CN" altLang="zh-CN" dirty="0">
                <a:effectLst/>
              </a:rPr>
              <a:t>：选择1个核心改进场景，完成以下验证工作：</a:t>
            </a:r>
          </a:p>
          <a:p>
            <a:pPr lvl="1"/>
            <a:r>
              <a:rPr lang="zh-CN" altLang="zh-CN" dirty="0">
                <a:effectLst/>
              </a:rPr>
              <a:t>选取合适的AI工具进行实际测试（如使用</a:t>
            </a:r>
            <a:r>
              <a:rPr lang="en-US" altLang="zh-CN" dirty="0">
                <a:effectLst/>
              </a:rPr>
              <a:t>LLM</a:t>
            </a:r>
            <a:r>
              <a:rPr lang="zh-CN" altLang="zh-CN" dirty="0">
                <a:effectLst/>
              </a:rPr>
              <a:t>生成需求文档、利用</a:t>
            </a:r>
            <a:r>
              <a:rPr lang="zh-CN" altLang="en-US" dirty="0">
                <a:effectLst/>
              </a:rPr>
              <a:t>你选择的</a:t>
            </a:r>
            <a:r>
              <a:rPr lang="en-US" altLang="zh-CN" dirty="0">
                <a:effectLst/>
              </a:rPr>
              <a:t>AI</a:t>
            </a:r>
            <a:r>
              <a:rPr lang="zh-CN" altLang="en-US" dirty="0">
                <a:effectLst/>
              </a:rPr>
              <a:t>测试工具</a:t>
            </a:r>
            <a:r>
              <a:rPr lang="zh-CN" altLang="zh-CN" dirty="0">
                <a:effectLst/>
              </a:rPr>
              <a:t>生成测试用例）</a:t>
            </a:r>
          </a:p>
          <a:p>
            <a:pPr lvl="1"/>
            <a:r>
              <a:rPr lang="zh-CN" altLang="zh-CN" dirty="0">
                <a:effectLst/>
              </a:rPr>
              <a:t>记录AI工具的执行过程与输出结果</a:t>
            </a:r>
          </a:p>
          <a:p>
            <a:pPr lvl="1"/>
            <a:r>
              <a:rPr lang="zh-CN" altLang="zh-CN" dirty="0">
                <a:effectLst/>
              </a:rPr>
              <a:t>对比传统人工方式与AI辅助方式的效率与质量差异</a:t>
            </a:r>
          </a:p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971945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2A3485-5ABC-26A5-5462-8439F7BA9D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9CA601-75B8-91D3-6F2E-E21CB6D29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zh-CN" b="1" dirty="0"/>
              <a:t>三、作业核心任务</a:t>
            </a:r>
            <a:br>
              <a:rPr lang="zh-CN" altLang="zh-CN" b="1" dirty="0"/>
            </a:br>
            <a:r>
              <a:rPr lang="zh-CN" altLang="zh-CN" b="1" dirty="0"/>
              <a:t>（三）改进方案原型验证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6B13810-99DA-D845-9D30-A89E5DB449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b="1" dirty="0"/>
              <a:t>验证报告</a:t>
            </a:r>
            <a:r>
              <a:rPr lang="zh-CN" altLang="zh-CN" dirty="0"/>
              <a:t>：形成《AI技术应用验证报告》，包含验证场景、工具选型、执行过程、结果对比与改进建议</a:t>
            </a:r>
          </a:p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290226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C4EB1B8-D6FE-8BC7-5845-E608138F45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zh-CN" b="1" dirty="0"/>
              <a:t>三、作业核心任务</a:t>
            </a:r>
            <a:br>
              <a:rPr lang="en-US" altLang="zh-CN" b="1" dirty="0"/>
            </a:br>
            <a:r>
              <a:rPr lang="zh-CN" altLang="zh-CN" b="1" dirty="0"/>
              <a:t>（四）文档化交付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22C7E6E-719A-053E-3F47-07DED5DCAE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b="1" dirty="0">
                <a:effectLst/>
              </a:rPr>
              <a:t>改进后软件过程文档</a:t>
            </a:r>
            <a:r>
              <a:rPr lang="zh-CN" altLang="zh-CN" dirty="0">
                <a:effectLst/>
              </a:rPr>
              <a:t>：更新原有的软件过程定义文档，融入AI技术相关内容，包括：</a:t>
            </a:r>
          </a:p>
          <a:p>
            <a:pPr lvl="1"/>
            <a:r>
              <a:rPr lang="zh-CN" altLang="zh-CN" dirty="0">
                <a:effectLst/>
              </a:rPr>
              <a:t>过程概述与目标</a:t>
            </a:r>
          </a:p>
          <a:p>
            <a:pPr lvl="1"/>
            <a:r>
              <a:rPr lang="zh-CN" altLang="zh-CN" dirty="0">
                <a:effectLst/>
              </a:rPr>
              <a:t>各阶段活动流程图（含AI参与节点）</a:t>
            </a:r>
          </a:p>
          <a:p>
            <a:pPr lvl="1"/>
            <a:r>
              <a:rPr lang="zh-CN" altLang="zh-CN" dirty="0">
                <a:effectLst/>
              </a:rPr>
              <a:t>角色职责定义（新增AI相关角色）</a:t>
            </a:r>
          </a:p>
          <a:p>
            <a:pPr lvl="1"/>
            <a:r>
              <a:rPr lang="zh-CN" altLang="zh-CN" dirty="0">
                <a:effectLst/>
              </a:rPr>
              <a:t>交付物清单与质量标准</a:t>
            </a:r>
          </a:p>
          <a:p>
            <a:pPr lvl="1"/>
            <a:r>
              <a:rPr lang="zh-CN" altLang="zh-CN" dirty="0">
                <a:effectLst/>
              </a:rPr>
              <a:t>过程度量指标（含AI贡献度指标）</a:t>
            </a:r>
          </a:p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031179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A3CFBE-7D86-BD27-AAA6-54EC6530E0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7360BD-64BB-CD16-73AF-9D7DD55DC1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zh-CN" b="1" dirty="0"/>
              <a:t>三、作业核心任务</a:t>
            </a:r>
            <a:br>
              <a:rPr lang="en-US" altLang="zh-CN" b="1" dirty="0"/>
            </a:br>
            <a:r>
              <a:rPr lang="zh-CN" altLang="zh-CN" b="1" dirty="0"/>
              <a:t>（四）文档化交付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DBFF434-BDC7-2DF6-2757-FCE099D0D2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b="1" dirty="0">
                <a:effectLst/>
              </a:rPr>
              <a:t>作业报告</a:t>
            </a:r>
            <a:r>
              <a:rPr lang="zh-CN" altLang="zh-CN" dirty="0">
                <a:effectLst/>
              </a:rPr>
              <a:t>：撰写完整的作业报告，包含：</a:t>
            </a:r>
          </a:p>
          <a:p>
            <a:pPr lvl="1"/>
            <a:r>
              <a:rPr lang="zh-CN" altLang="zh-CN" dirty="0">
                <a:effectLst/>
              </a:rPr>
              <a:t>调研分析结果</a:t>
            </a:r>
          </a:p>
          <a:p>
            <a:pPr lvl="1"/>
            <a:r>
              <a:rPr lang="zh-CN" altLang="zh-CN" dirty="0">
                <a:effectLst/>
              </a:rPr>
              <a:t>改进方案设计思路</a:t>
            </a:r>
          </a:p>
          <a:p>
            <a:pPr lvl="1"/>
            <a:r>
              <a:rPr lang="zh-CN" altLang="zh-CN" dirty="0">
                <a:effectLst/>
              </a:rPr>
              <a:t>原型验证过程与结论</a:t>
            </a:r>
          </a:p>
          <a:p>
            <a:pPr lvl="1"/>
            <a:r>
              <a:rPr lang="zh-CN" altLang="zh-CN" dirty="0">
                <a:effectLst/>
              </a:rPr>
              <a:t>成果总结与未来展望</a:t>
            </a:r>
          </a:p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515595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D766B4-378F-0ABE-D92E-ADC8892229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b="1" dirty="0"/>
              <a:t>四、作业要求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A95C1FD-8835-5ADE-7520-6DF29B3B09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b="1" dirty="0"/>
              <a:t>技术要求</a:t>
            </a:r>
          </a:p>
          <a:p>
            <a:pPr lvl="1"/>
            <a:r>
              <a:rPr lang="zh-CN" altLang="zh-CN" dirty="0"/>
              <a:t>改进方案需具备可落地性，避免纯理论构想</a:t>
            </a:r>
          </a:p>
          <a:p>
            <a:pPr lvl="1"/>
            <a:r>
              <a:rPr lang="zh-CN" altLang="zh-CN" dirty="0"/>
              <a:t>原型验证需使用真实AI工具，提供可复现的验证过程</a:t>
            </a:r>
          </a:p>
          <a:p>
            <a:pPr lvl="1"/>
            <a:r>
              <a:rPr lang="zh-CN" altLang="zh-CN" dirty="0"/>
              <a:t>需引用至少5篇2024年以后的AI软件工程相关文献或行业报告</a:t>
            </a:r>
          </a:p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098334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E7446C-56CD-F2AF-DC52-FFD5ED7737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CB7145-F293-D5C7-E065-6A3B68DB3B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b="1" dirty="0"/>
              <a:t>四、作业要求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C16C163-FDC8-8464-5556-832B898353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dirty="0"/>
              <a:t>所有交付文档需采用Markdown格式撰写，结构清晰、内容完整</a:t>
            </a:r>
          </a:p>
          <a:p>
            <a:r>
              <a:rPr lang="zh-CN" altLang="zh-CN" dirty="0"/>
              <a:t>过程文档需包含可视化流程图（可使用Mermaid、Visio等工具绘制）</a:t>
            </a:r>
          </a:p>
          <a:p>
            <a:r>
              <a:rPr lang="zh-CN" altLang="zh-CN" dirty="0"/>
              <a:t>验证报告需包含对比数据与可视化图表，增强说服力</a:t>
            </a:r>
          </a:p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307137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8CA8E24-90FE-A43D-62F4-E82E1B5CDC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b="1" dirty="0"/>
              <a:t>四、作业要求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663BBC2-4836-F256-891D-B301B32F4E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b="1" dirty="0"/>
              <a:t>时间要求</a:t>
            </a:r>
          </a:p>
          <a:p>
            <a:r>
              <a:rPr lang="zh-CN" altLang="zh-CN" dirty="0"/>
              <a:t>作业周期：4周（自发布之日起计算）</a:t>
            </a:r>
            <a:r>
              <a:rPr lang="zh-CN" altLang="en-US" dirty="0"/>
              <a:t>（具体</a:t>
            </a:r>
            <a:r>
              <a:rPr lang="zh-CN" altLang="en-US"/>
              <a:t>到课程结束）</a:t>
            </a:r>
            <a:endParaRPr lang="zh-CN" altLang="zh-CN" dirty="0"/>
          </a:p>
          <a:p>
            <a:r>
              <a:rPr lang="zh-CN" altLang="zh-CN" dirty="0"/>
              <a:t>关键节点：</a:t>
            </a:r>
          </a:p>
          <a:p>
            <a:pPr lvl="1"/>
            <a:r>
              <a:rPr lang="zh-CN" altLang="zh-CN" dirty="0"/>
              <a:t>第1周：完成AI技术调研与场景分析</a:t>
            </a:r>
          </a:p>
          <a:p>
            <a:pPr lvl="1"/>
            <a:r>
              <a:rPr lang="zh-CN" altLang="zh-CN" dirty="0"/>
              <a:t>第2周：完成改进方案设计与风险评估</a:t>
            </a:r>
          </a:p>
          <a:p>
            <a:pPr lvl="1"/>
            <a:r>
              <a:rPr lang="zh-CN" altLang="zh-CN" dirty="0"/>
              <a:t>第3周：完成原型验证与报告撰写</a:t>
            </a:r>
          </a:p>
          <a:p>
            <a:pPr lvl="1"/>
            <a:r>
              <a:rPr lang="zh-CN" altLang="zh-CN" dirty="0"/>
              <a:t>第4周：完成最终文档整合与提交</a:t>
            </a:r>
          </a:p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679385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EA41801-CA01-DABE-C1C2-3E9C762A33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b="1" dirty="0"/>
              <a:t>四、作业要求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903C874-5BD1-EC42-F078-DF4CC82AA3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b="1" dirty="0"/>
              <a:t>提交成果清单</a:t>
            </a:r>
          </a:p>
          <a:p>
            <a:pPr lvl="1"/>
            <a:r>
              <a:rPr lang="zh-CN" altLang="zh-CN" dirty="0"/>
              <a:t>《AI技术应用场景匹配报告》（不少于1</a:t>
            </a:r>
            <a:r>
              <a:rPr lang="en-US" altLang="zh-CN" dirty="0"/>
              <a:t>0</a:t>
            </a:r>
            <a:r>
              <a:rPr lang="zh-CN" altLang="zh-CN" dirty="0"/>
              <a:t>00字）</a:t>
            </a:r>
          </a:p>
          <a:p>
            <a:pPr lvl="1"/>
            <a:r>
              <a:rPr lang="zh-CN" altLang="zh-CN" dirty="0"/>
              <a:t>《软件过程改进方案设计文档》（不少于</a:t>
            </a:r>
            <a:r>
              <a:rPr lang="en-US" altLang="zh-CN" dirty="0"/>
              <a:t>15</a:t>
            </a:r>
            <a:r>
              <a:rPr lang="zh-CN" altLang="zh-CN" dirty="0"/>
              <a:t>00字，含流程图）</a:t>
            </a:r>
          </a:p>
          <a:p>
            <a:pPr lvl="1"/>
            <a:r>
              <a:rPr lang="zh-CN" altLang="zh-CN" dirty="0"/>
              <a:t>《AI技术应用验证报告》（不少于1000字，含对比数据）</a:t>
            </a:r>
          </a:p>
          <a:p>
            <a:pPr lvl="1"/>
            <a:r>
              <a:rPr lang="zh-CN" altLang="zh-CN" dirty="0"/>
              <a:t>改进后的完整软件过程定义文档（不少于</a:t>
            </a:r>
            <a:r>
              <a:rPr lang="en-US" altLang="zh-CN" dirty="0"/>
              <a:t>3</a:t>
            </a:r>
            <a:r>
              <a:rPr lang="zh-CN" altLang="zh-CN" dirty="0"/>
              <a:t>000字）</a:t>
            </a:r>
          </a:p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230296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5698318-6999-C5FD-A3C6-B892BA4E30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b="1" dirty="0"/>
              <a:t>四、作业要求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8056580-7561-34C3-7A46-0A40CD6DD0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b="1" dirty="0"/>
              <a:t>参考资源</a:t>
            </a:r>
            <a:r>
              <a:rPr lang="zh-CN" altLang="en-US" b="1" dirty="0"/>
              <a:t>（包含但不限于以下）</a:t>
            </a:r>
            <a:endParaRPr lang="zh-CN" altLang="zh-CN" b="1" dirty="0"/>
          </a:p>
          <a:p>
            <a:r>
              <a:rPr lang="zh-CN" altLang="zh-CN" dirty="0"/>
              <a:t>《智能化软件工程技术和应用要求 第3部分:智能测试能力》（中国信通院，2024）</a:t>
            </a:r>
          </a:p>
          <a:p>
            <a:r>
              <a:rPr lang="zh-CN" altLang="zh-CN" dirty="0"/>
              <a:t>Gtest全球软件测试技术峰会2025会议资料</a:t>
            </a:r>
          </a:p>
          <a:p>
            <a:r>
              <a:rPr lang="zh-CN" altLang="zh-CN" dirty="0"/>
              <a:t>GitHub Copilot、WHartTest、Testin XAgent等AI工具官方文档</a:t>
            </a:r>
          </a:p>
          <a:p>
            <a:r>
              <a:rPr lang="zh-CN" altLang="zh-CN" dirty="0"/>
              <a:t>《AI4SE 行业现状调查报告》（2024）</a:t>
            </a:r>
          </a:p>
          <a:p>
            <a:r>
              <a:rPr lang="zh-CN" altLang="zh-CN" dirty="0"/>
              <a:t>相关学术论文：《AI原生自动化测试范式研究》《生成式AI在需求工程中的应用》</a:t>
            </a:r>
          </a:p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8330402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9F18E0-238C-E4F8-8164-B7D207997B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6C7CA4-E478-135B-5189-B902003B8B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b="1" dirty="0"/>
              <a:t>四、作业要求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668CED7-338C-97EA-185B-BCFAEDB32D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1" dirty="0"/>
              <a:t>提交渠道：</a:t>
            </a:r>
            <a:r>
              <a:rPr lang="en-US" altLang="zh-CN" b="1" dirty="0"/>
              <a:t>GitHub</a:t>
            </a:r>
          </a:p>
          <a:p>
            <a:r>
              <a:rPr kumimoji="1" lang="zh-CN" altLang="en-US" b="1" dirty="0"/>
              <a:t>提交细节：助教老师群里通知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722882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1146</Words>
  <Application>Microsoft Macintosh PowerPoint</Application>
  <PresentationFormat>宽屏</PresentationFormat>
  <Paragraphs>88</Paragraphs>
  <Slides>19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3" baseType="lpstr">
      <vt:lpstr>等线</vt:lpstr>
      <vt:lpstr>等线 Light</vt:lpstr>
      <vt:lpstr>Arial</vt:lpstr>
      <vt:lpstr>Office 主题​​</vt:lpstr>
      <vt:lpstr>软件过程与管理作业</vt:lpstr>
      <vt:lpstr>一、作业背景与目标</vt:lpstr>
      <vt:lpstr>一、作业背景与目标</vt:lpstr>
      <vt:lpstr>二、作业前置条件</vt:lpstr>
      <vt:lpstr>三、作业核心任务 （一）AI技术应用场景调研与分析</vt:lpstr>
      <vt:lpstr>三、作业核心任务 （一）AI技术应用场景调研与分析</vt:lpstr>
      <vt:lpstr>三、作业核心任务 （二）软件过程改进方案设计</vt:lpstr>
      <vt:lpstr>三、作业核心任务 （二）软件过程改进方案设计</vt:lpstr>
      <vt:lpstr>三、作业核心任务 （二）软件过程改进方案设计</vt:lpstr>
      <vt:lpstr>三、作业核心任务 （三）改进方案原型验证</vt:lpstr>
      <vt:lpstr>三、作业核心任务 （三）改进方案原型验证</vt:lpstr>
      <vt:lpstr>三、作业核心任务 （四）文档化交付</vt:lpstr>
      <vt:lpstr>三、作业核心任务 （四）文档化交付</vt:lpstr>
      <vt:lpstr>四、作业要求</vt:lpstr>
      <vt:lpstr>四、作业要求</vt:lpstr>
      <vt:lpstr>四、作业要求</vt:lpstr>
      <vt:lpstr>四、作业要求</vt:lpstr>
      <vt:lpstr>四、作业要求</vt:lpstr>
      <vt:lpstr>四、作业要求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PM</dc:creator>
  <cp:lastModifiedBy>PM</cp:lastModifiedBy>
  <cp:revision>9</cp:revision>
  <dcterms:created xsi:type="dcterms:W3CDTF">2026-05-21T04:17:42Z</dcterms:created>
  <dcterms:modified xsi:type="dcterms:W3CDTF">2026-05-21T04:40:34Z</dcterms:modified>
</cp:coreProperties>
</file>